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9" r:id="rId6"/>
    <p:sldId id="260" r:id="rId7"/>
    <p:sldId id="280" r:id="rId8"/>
    <p:sldId id="261" r:id="rId9"/>
    <p:sldId id="262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  <p:sldId id="281" r:id="rId19"/>
    <p:sldId id="273" r:id="rId20"/>
    <p:sldId id="274" r:id="rId21"/>
    <p:sldId id="277" r:id="rId22"/>
    <p:sldId id="278" r:id="rId23"/>
    <p:sldId id="284" r:id="rId24"/>
    <p:sldId id="283" r:id="rId25"/>
    <p:sldId id="282" r:id="rId26"/>
    <p:sldId id="285" r:id="rId27"/>
    <p:sldId id="28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79B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1" autoAdjust="0"/>
    <p:restoredTop sz="86395" autoAdjust="0"/>
  </p:normalViewPr>
  <p:slideViewPr>
    <p:cSldViewPr snapToGrid="0" snapToObjects="1">
      <p:cViewPr varScale="1">
        <p:scale>
          <a:sx n="143" d="100"/>
          <a:sy n="143" d="100"/>
        </p:scale>
        <p:origin x="2240" y="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Rafay" userId="S::rafaym@bupame.com::e8fc1b87-3ae2-4d05-96e7-ef591aae5f67" providerId="AD" clId="Web-{F708FEFC-0DEC-3262-A9D3-B727E032B4C0}"/>
    <pc:docChg chg="mod modMainMaster">
      <pc:chgData name="Mohammed Rafay" userId="S::rafaym@bupame.com::e8fc1b87-3ae2-4d05-96e7-ef591aae5f67" providerId="AD" clId="Web-{F708FEFC-0DEC-3262-A9D3-B727E032B4C0}" dt="2026-06-03T08:22:58.670" v="3" actId="33475"/>
      <pc:docMkLst>
        <pc:docMk/>
      </pc:docMkLst>
      <pc:sldMasterChg chg="addSp delSp">
        <pc:chgData name="Mohammed Rafay" userId="S::rafaym@bupame.com::e8fc1b87-3ae2-4d05-96e7-ef591aae5f67" providerId="AD" clId="Web-{F708FEFC-0DEC-3262-A9D3-B727E032B4C0}" dt="2026-06-03T08:22:58.670" v="2" actId="33475"/>
        <pc:sldMasterMkLst>
          <pc:docMk/>
          <pc:sldMasterMk cId="2209977519" sldId="2147483648"/>
        </pc:sldMasterMkLst>
        <pc:spChg chg="add del">
          <ac:chgData name="Mohammed Rafay" userId="S::rafaym@bupame.com::e8fc1b87-3ae2-4d05-96e7-ef591aae5f67" providerId="AD" clId="Web-{F708FEFC-0DEC-3262-A9D3-B727E032B4C0}" dt="2026-06-03T08:22:58.670" v="2" actId="33475"/>
          <ac:spMkLst>
            <pc:docMk/>
            <pc:sldMasterMk cId="2209977519" sldId="2147483648"/>
            <ac:spMk id="9" creationId="{8441B948-A759-B9FF-E8A6-8B2508586ED6}"/>
          </ac:spMkLst>
        </pc:spChg>
        <pc:spChg chg="add del">
          <ac:chgData name="Mohammed Rafay" userId="S::rafaym@bupame.com::e8fc1b87-3ae2-4d05-96e7-ef591aae5f67" providerId="AD" clId="Web-{F708FEFC-0DEC-3262-A9D3-B727E032B4C0}" dt="2026-06-03T08:22:58.670" v="2" actId="33475"/>
          <ac:spMkLst>
            <pc:docMk/>
            <pc:sldMasterMk cId="2209977519" sldId="2147483648"/>
            <ac:spMk id="10" creationId="{E09F69C3-77AF-DE0C-A13A-A70C047B4507}"/>
          </ac:spMkLst>
        </pc:spChg>
        <pc:spChg chg="add">
          <ac:chgData name="Mohammed Rafay" userId="S::rafaym@bupame.com::e8fc1b87-3ae2-4d05-96e7-ef591aae5f67" providerId="AD" clId="Web-{F708FEFC-0DEC-3262-A9D3-B727E032B4C0}" dt="2026-06-03T08:22:58.670" v="2" actId="33475"/>
          <ac:spMkLst>
            <pc:docMk/>
            <pc:sldMasterMk cId="2209977519" sldId="2147483648"/>
            <ac:spMk id="13" creationId="{890D8FFD-0289-ACE8-C35B-6EC189451079}"/>
          </ac:spMkLst>
        </pc:spChg>
        <pc:spChg chg="add">
          <ac:chgData name="Mohammed Rafay" userId="S::rafaym@bupame.com::e8fc1b87-3ae2-4d05-96e7-ef591aae5f67" providerId="AD" clId="Web-{F708FEFC-0DEC-3262-A9D3-B727E032B4C0}" dt="2026-06-03T08:22:58.670" v="2" actId="33475"/>
          <ac:spMkLst>
            <pc:docMk/>
            <pc:sldMasterMk cId="2209977519" sldId="2147483648"/>
            <ac:spMk id="14" creationId="{632B62EE-BC91-4E1B-0D1A-2479640F60A6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0D8FFD-0289-ACE8-C35B-6EC189451079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233863" y="6642100"/>
            <a:ext cx="701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2B62EE-BC91-4E1B-0D1A-2479640F60A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watermark"/>
              </p:ext>
            </p:extLst>
          </p:nvPr>
        </p:nvSpPr>
        <p:spPr>
          <a:xfrm rot="-1800000">
            <a:off x="2035175" y="2857500"/>
            <a:ext cx="5267325" cy="11430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5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7939454" cy="3804993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1279BE"/>
                </a:solidFill>
              </a:rPr>
            </a:br>
            <a:br>
              <a:rPr lang="en-US" b="1" dirty="0">
                <a:solidFill>
                  <a:srgbClr val="1279BE"/>
                </a:solidFill>
              </a:rPr>
            </a:br>
            <a:br>
              <a:rPr lang="en-US" b="1" dirty="0">
                <a:solidFill>
                  <a:srgbClr val="1279BE"/>
                </a:solidFill>
              </a:rPr>
            </a:br>
            <a:r>
              <a:rPr lang="en-US" b="1" dirty="0">
                <a:solidFill>
                  <a:srgbClr val="1279BE"/>
                </a:solidFill>
              </a:rPr>
              <a:t>Saudi Aramco MS&amp;AMD (Medical Services &amp; Affiliation Management Department ) and BUPA Arabia Automated Communication </a:t>
            </a:r>
            <a:br>
              <a:rPr lang="en-US" b="1" dirty="0">
                <a:solidFill>
                  <a:srgbClr val="1279BE"/>
                </a:solidFill>
              </a:rPr>
            </a:br>
            <a:r>
              <a:rPr lang="en-US" b="1" dirty="0">
                <a:solidFill>
                  <a:srgbClr val="1279BE"/>
                </a:solidFill>
              </a:rPr>
              <a:t>System </a:t>
            </a:r>
            <a:br>
              <a:rPr lang="en-US" b="1" dirty="0"/>
            </a:b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User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dirty="0"/>
          </a:p>
          <a:p>
            <a:r>
              <a:rPr dirty="0">
                <a:solidFill>
                  <a:srgbClr val="1279BE"/>
                </a:solidFill>
              </a:rPr>
              <a:t>Aramco Users: </a:t>
            </a:r>
            <a:endParaRPr lang="en-US" dirty="0">
              <a:solidFill>
                <a:srgbClr val="1279BE"/>
              </a:solidFill>
            </a:endParaRPr>
          </a:p>
          <a:p>
            <a:pPr lvl="1"/>
            <a:r>
              <a:rPr dirty="0"/>
              <a:t>MSMD User </a:t>
            </a:r>
            <a:r>
              <a:rPr b="1" dirty="0"/>
              <a:t>(New)</a:t>
            </a:r>
            <a:endParaRPr lang="en-US" b="1" dirty="0"/>
          </a:p>
          <a:p>
            <a:pPr lvl="1"/>
            <a:r>
              <a:rPr dirty="0"/>
              <a:t> </a:t>
            </a:r>
            <a:r>
              <a:rPr lang="en-US" dirty="0"/>
              <a:t>Aramco personnel</a:t>
            </a:r>
            <a:r>
              <a:rPr dirty="0"/>
              <a:t> Account </a:t>
            </a:r>
            <a:r>
              <a:rPr b="1" dirty="0"/>
              <a:t>(New)</a:t>
            </a:r>
          </a:p>
          <a:p>
            <a:r>
              <a:rPr dirty="0" err="1">
                <a:solidFill>
                  <a:srgbClr val="1279BE"/>
                </a:solidFill>
              </a:rPr>
              <a:t>Bupa</a:t>
            </a:r>
            <a:r>
              <a:rPr dirty="0">
                <a:solidFill>
                  <a:srgbClr val="1279BE"/>
                </a:solidFill>
              </a:rPr>
              <a:t> Users:</a:t>
            </a:r>
            <a:endParaRPr lang="en-US" dirty="0">
              <a:solidFill>
                <a:srgbClr val="1279BE"/>
              </a:solidFill>
            </a:endParaRPr>
          </a:p>
          <a:p>
            <a:pPr lvl="1"/>
            <a:r>
              <a:rPr lang="en-US" dirty="0" err="1"/>
              <a:t>PreAuth</a:t>
            </a:r>
            <a:r>
              <a:rPr lang="en-US" dirty="0"/>
              <a:t> </a:t>
            </a:r>
            <a:r>
              <a:rPr lang="en-US" b="1" dirty="0"/>
              <a:t>(New)</a:t>
            </a:r>
          </a:p>
          <a:p>
            <a:pPr lvl="1"/>
            <a:r>
              <a:rPr lang="en-US" dirty="0"/>
              <a:t>Medical Team</a:t>
            </a:r>
          </a:p>
          <a:p>
            <a:pPr lvl="1"/>
            <a:r>
              <a:rPr lang="en-US" dirty="0"/>
              <a:t>Admin</a:t>
            </a:r>
          </a:p>
          <a:p>
            <a:pPr lvl="1"/>
            <a:r>
              <a:rPr lang="en-US" dirty="0"/>
              <a:t>MCU Team</a:t>
            </a:r>
          </a:p>
          <a:p>
            <a:pPr lvl="1"/>
            <a:r>
              <a:rPr lang="en-US" dirty="0"/>
              <a:t>CREATEREF</a:t>
            </a:r>
          </a:p>
          <a:p>
            <a:pPr lvl="1"/>
            <a:r>
              <a:rPr lang="en-US" dirty="0" err="1"/>
              <a:t>AramcoAcountKey</a:t>
            </a:r>
            <a:endParaRPr lang="en-US" dirty="0"/>
          </a:p>
          <a:p>
            <a:pPr lvl="1"/>
            <a:r>
              <a:rPr lang="en-US" dirty="0" err="1"/>
              <a:t>AmendRef</a:t>
            </a:r>
            <a:endParaRPr lang="en-US" dirty="0"/>
          </a:p>
          <a:p>
            <a:pPr marL="457200" lvl="1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279BE"/>
                </a:solidFill>
              </a:rPr>
              <a:t>Appeal Workflow</a:t>
            </a:r>
            <a:endParaRPr dirty="0">
              <a:solidFill>
                <a:srgbClr val="1279B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dirty="0"/>
          </a:p>
          <a:p>
            <a:r>
              <a:rPr lang="en-US" dirty="0"/>
              <a:t>New Appeal</a:t>
            </a:r>
            <a:endParaRPr dirty="0"/>
          </a:p>
          <a:p>
            <a:r>
              <a:rPr dirty="0"/>
              <a:t>MSMD section + assignments</a:t>
            </a:r>
            <a:endParaRPr lang="en-US" dirty="0"/>
          </a:p>
          <a:p>
            <a:r>
              <a:rPr lang="en-US" dirty="0" err="1"/>
              <a:t>Bupa</a:t>
            </a:r>
            <a:r>
              <a:rPr lang="en-US" dirty="0"/>
              <a:t> Arabia Section</a:t>
            </a:r>
            <a:endParaRPr dirty="0"/>
          </a:p>
          <a:p>
            <a:r>
              <a:rPr dirty="0"/>
              <a:t>MRO workflow (Part 1 &amp; Part 2)</a:t>
            </a:r>
          </a:p>
          <a:p>
            <a:r>
              <a:rPr dirty="0"/>
              <a:t>MRO generation by MSMD</a:t>
            </a:r>
            <a:endParaRPr lang="en-US" dirty="0"/>
          </a:p>
          <a:p>
            <a:r>
              <a:rPr lang="en-US" dirty="0"/>
              <a:t>Badge History</a:t>
            </a:r>
          </a:p>
          <a:p>
            <a:r>
              <a:rPr lang="en-US" dirty="0"/>
              <a:t>Appeal Response History</a:t>
            </a:r>
            <a:endParaRPr dirty="0"/>
          </a:p>
          <a:p>
            <a:r>
              <a:rPr dirty="0"/>
              <a:t>Discussion list module</a:t>
            </a:r>
            <a:endParaRPr lang="en-US" dirty="0"/>
          </a:p>
          <a:p>
            <a:r>
              <a:rPr lang="en-US" dirty="0"/>
              <a:t>Notification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279BE"/>
                </a:solidFill>
              </a:rPr>
              <a:t>Landing Page</a:t>
            </a:r>
            <a:endParaRPr dirty="0">
              <a:solidFill>
                <a:srgbClr val="1279B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0942"/>
            <a:ext cx="8229600" cy="4525963"/>
          </a:xfrm>
        </p:spPr>
        <p:txBody>
          <a:bodyPr/>
          <a:lstStyle/>
          <a:p>
            <a:r>
              <a:rPr lang="en-US" dirty="0"/>
              <a:t>MSMD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00088"/>
            <a:ext cx="8321040" cy="41713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279BE"/>
                </a:solidFill>
              </a:rPr>
              <a:t>Landing Page</a:t>
            </a:r>
            <a:endParaRPr dirty="0">
              <a:solidFill>
                <a:srgbClr val="1279B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0942"/>
            <a:ext cx="8229600" cy="4525963"/>
          </a:xfrm>
        </p:spPr>
        <p:txBody>
          <a:bodyPr/>
          <a:lstStyle/>
          <a:p>
            <a:r>
              <a:rPr lang="en-US" dirty="0"/>
              <a:t>OTHER USER</a:t>
            </a:r>
          </a:p>
          <a:p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39" y="2054542"/>
            <a:ext cx="7287768" cy="361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138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388" y="274638"/>
            <a:ext cx="8171411" cy="606511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rgbClr val="1279BE"/>
                </a:solidFill>
              </a:rPr>
              <a:t>Flow 1 – Step 1: Appeal Created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789710"/>
            <a:ext cx="8229600" cy="4970694"/>
          </a:xfrm>
        </p:spPr>
        <p:txBody>
          <a:bodyPr/>
          <a:lstStyle/>
          <a:p>
            <a:r>
              <a:rPr sz="2400" dirty="0"/>
              <a:t>Created by </a:t>
            </a:r>
            <a:r>
              <a:rPr sz="2400" dirty="0" err="1"/>
              <a:t>Bupa</a:t>
            </a:r>
            <a:r>
              <a:rPr sz="2400" dirty="0"/>
              <a:t> Key Account or Aramco Personal Key Account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613" y="1196946"/>
            <a:ext cx="5132215" cy="26050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2613" y="4051376"/>
            <a:ext cx="5132214" cy="25781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388" y="274638"/>
            <a:ext cx="8171411" cy="440257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rgbClr val="1279BE"/>
                </a:solidFill>
              </a:rPr>
              <a:t>Flow 1 – Step </a:t>
            </a:r>
            <a:r>
              <a:rPr lang="en-US" dirty="0">
                <a:solidFill>
                  <a:srgbClr val="1279BE"/>
                </a:solidFill>
              </a:rPr>
              <a:t>2</a:t>
            </a:r>
            <a:r>
              <a:rPr dirty="0">
                <a:solidFill>
                  <a:srgbClr val="1279BE"/>
                </a:solidFill>
              </a:rPr>
              <a:t>: Appeal </a:t>
            </a:r>
            <a:r>
              <a:rPr lang="en-US" dirty="0">
                <a:solidFill>
                  <a:srgbClr val="1279BE"/>
                </a:solidFill>
              </a:rPr>
              <a:t>Edit/Cancel</a:t>
            </a:r>
            <a:endParaRPr dirty="0">
              <a:solidFill>
                <a:srgbClr val="1279BE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147852"/>
            <a:ext cx="8229600" cy="425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915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481820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rgbClr val="1279BE"/>
                </a:solidFill>
              </a:rPr>
              <a:t>Flow 1 – Step </a:t>
            </a:r>
            <a:r>
              <a:rPr lang="en-US" dirty="0">
                <a:solidFill>
                  <a:srgbClr val="1279BE"/>
                </a:solidFill>
              </a:rPr>
              <a:t>3</a:t>
            </a:r>
            <a:r>
              <a:rPr dirty="0">
                <a:solidFill>
                  <a:srgbClr val="1279BE"/>
                </a:solidFill>
              </a:rPr>
              <a:t>: MSMD Login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6952" y="793866"/>
            <a:ext cx="8229600" cy="4525963"/>
          </a:xfrm>
        </p:spPr>
        <p:txBody>
          <a:bodyPr/>
          <a:lstStyle/>
          <a:p>
            <a:r>
              <a:rPr dirty="0"/>
              <a:t>MSMD can see created appeals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51" y="1417288"/>
            <a:ext cx="8403331" cy="42104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1944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rgbClr val="1279BE"/>
                </a:solidFill>
              </a:rPr>
              <a:t>Flow 1 – Step </a:t>
            </a:r>
            <a:r>
              <a:rPr lang="en-US" dirty="0">
                <a:solidFill>
                  <a:srgbClr val="1279BE"/>
                </a:solidFill>
              </a:rPr>
              <a:t>4</a:t>
            </a:r>
            <a:r>
              <a:rPr dirty="0">
                <a:solidFill>
                  <a:srgbClr val="1279BE"/>
                </a:solidFill>
              </a:rPr>
              <a:t>: MSMD Edit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843742"/>
            <a:ext cx="8229600" cy="4525963"/>
          </a:xfrm>
        </p:spPr>
        <p:txBody>
          <a:bodyPr/>
          <a:lstStyle/>
          <a:p>
            <a:r>
              <a:rPr sz="2400" dirty="0"/>
              <a:t>Appeal opens in edit modal with MSMD section</a:t>
            </a:r>
            <a:endParaRPr lang="en-US" sz="2400" dirty="0"/>
          </a:p>
          <a:p>
            <a:r>
              <a:rPr lang="en-US" sz="2400" dirty="0"/>
              <a:t>MSMD assigns case to </a:t>
            </a:r>
            <a:r>
              <a:rPr lang="en-US" sz="2400" dirty="0" err="1"/>
              <a:t>Bupa</a:t>
            </a:r>
            <a:r>
              <a:rPr lang="en-US" sz="2400" dirty="0"/>
              <a:t> team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270" y="1919306"/>
            <a:ext cx="8287312" cy="4223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1944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rgbClr val="1279BE"/>
                </a:solidFill>
              </a:rPr>
              <a:t>Flow 1 – Step </a:t>
            </a:r>
            <a:r>
              <a:rPr lang="en-US" dirty="0">
                <a:solidFill>
                  <a:srgbClr val="1279BE"/>
                </a:solidFill>
              </a:rPr>
              <a:t>5</a:t>
            </a:r>
            <a:r>
              <a:rPr dirty="0">
                <a:solidFill>
                  <a:srgbClr val="1279BE"/>
                </a:solidFill>
              </a:rPr>
              <a:t>: </a:t>
            </a:r>
            <a:r>
              <a:rPr dirty="0" err="1">
                <a:solidFill>
                  <a:srgbClr val="1279BE"/>
                </a:solidFill>
              </a:rPr>
              <a:t>Bupa</a:t>
            </a:r>
            <a:r>
              <a:rPr dirty="0">
                <a:solidFill>
                  <a:srgbClr val="1279BE"/>
                </a:solidFill>
              </a:rPr>
              <a:t> Team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60368"/>
            <a:ext cx="8229600" cy="4525963"/>
          </a:xfrm>
        </p:spPr>
        <p:txBody>
          <a:bodyPr/>
          <a:lstStyle/>
          <a:p>
            <a:r>
              <a:rPr dirty="0"/>
              <a:t>Assigned case appears to </a:t>
            </a:r>
            <a:r>
              <a:rPr dirty="0" err="1"/>
              <a:t>Bupa</a:t>
            </a:r>
            <a:r>
              <a:rPr dirty="0"/>
              <a:t> users</a:t>
            </a:r>
            <a:endParaRPr lang="en-US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57" y="1609194"/>
            <a:ext cx="8217871" cy="41432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1944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rgbClr val="1279BE"/>
                </a:solidFill>
              </a:rPr>
              <a:t>Flow 1 – Step </a:t>
            </a:r>
            <a:r>
              <a:rPr lang="en-US" dirty="0">
                <a:solidFill>
                  <a:srgbClr val="1279BE"/>
                </a:solidFill>
              </a:rPr>
              <a:t>6</a:t>
            </a:r>
            <a:r>
              <a:rPr dirty="0">
                <a:solidFill>
                  <a:srgbClr val="1279BE"/>
                </a:solidFill>
              </a:rPr>
              <a:t>: </a:t>
            </a:r>
            <a:r>
              <a:rPr dirty="0" err="1">
                <a:solidFill>
                  <a:srgbClr val="1279BE"/>
                </a:solidFill>
              </a:rPr>
              <a:t>Bupa</a:t>
            </a:r>
            <a:r>
              <a:rPr dirty="0">
                <a:solidFill>
                  <a:srgbClr val="1279BE"/>
                </a:solidFill>
              </a:rPr>
              <a:t>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902"/>
            <a:ext cx="8229600" cy="5145261"/>
          </a:xfrm>
        </p:spPr>
        <p:txBody>
          <a:bodyPr/>
          <a:lstStyle/>
          <a:p>
            <a:r>
              <a:rPr sz="2800" dirty="0" err="1"/>
              <a:t>Bupa</a:t>
            </a:r>
            <a:r>
              <a:rPr sz="2800" dirty="0"/>
              <a:t> </a:t>
            </a:r>
            <a:r>
              <a:rPr lang="en-US" sz="2800" dirty="0"/>
              <a:t>Team</a:t>
            </a:r>
            <a:r>
              <a:rPr sz="2800" dirty="0"/>
              <a:t> submits response</a:t>
            </a:r>
            <a:br>
              <a:rPr lang="en-US" dirty="0"/>
            </a:b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57" y="1696026"/>
            <a:ext cx="8267315" cy="41810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1279BE"/>
                </a:solidFill>
              </a:rPr>
              <a:t>Flow 2</a:t>
            </a:r>
            <a:r>
              <a:rPr lang="en-US" dirty="0">
                <a:solidFill>
                  <a:srgbClr val="1279BE"/>
                </a:solidFill>
              </a:rPr>
              <a:t> – MRO Form</a:t>
            </a:r>
            <a:endParaRPr dirty="0">
              <a:solidFill>
                <a:srgbClr val="1279B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MRO Process: </a:t>
            </a:r>
            <a:r>
              <a:rPr lang="en-US" dirty="0"/>
              <a:t>MRO Category → </a:t>
            </a:r>
            <a:r>
              <a:rPr dirty="0"/>
              <a:t>Part 1 </a:t>
            </a:r>
            <a:r>
              <a:rPr lang="en-US" dirty="0"/>
              <a:t>by MSMD</a:t>
            </a:r>
            <a:r>
              <a:rPr dirty="0"/>
              <a:t>→ Assign</a:t>
            </a:r>
            <a:r>
              <a:rPr lang="en-US" dirty="0"/>
              <a:t> to </a:t>
            </a:r>
            <a:r>
              <a:rPr lang="en-US" dirty="0" err="1"/>
              <a:t>Bupa</a:t>
            </a:r>
            <a:r>
              <a:rPr lang="en-US" dirty="0"/>
              <a:t> Team</a:t>
            </a:r>
            <a:r>
              <a:rPr dirty="0"/>
              <a:t> → Part 2 </a:t>
            </a:r>
            <a:r>
              <a:rPr lang="en-US" dirty="0"/>
              <a:t>by </a:t>
            </a:r>
            <a:r>
              <a:rPr lang="en-US" dirty="0" err="1"/>
              <a:t>Bupa</a:t>
            </a:r>
            <a:r>
              <a:rPr lang="en-US" dirty="0"/>
              <a:t> Team</a:t>
            </a:r>
            <a:r>
              <a:rPr dirty="0"/>
              <a:t>→ Final MRO Generation</a:t>
            </a:r>
            <a:r>
              <a:rPr lang="en-US" dirty="0"/>
              <a:t> By MSMD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133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rgbClr val="1279BE"/>
                </a:solidFill>
              </a:rPr>
              <a:t>Flow 2 – Step 1: Select MRO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2342"/>
            <a:ext cx="8229600" cy="5053821"/>
          </a:xfrm>
        </p:spPr>
        <p:txBody>
          <a:bodyPr/>
          <a:lstStyle/>
          <a:p>
            <a:r>
              <a:rPr sz="2800" dirty="0"/>
              <a:t>MRO button appears when MRO category selected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" y="2210232"/>
            <a:ext cx="7232904" cy="368268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56635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rgbClr val="1279BE"/>
                </a:solidFill>
              </a:rPr>
              <a:t>Flow 2 – Step 2: MRO Form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5470"/>
            <a:ext cx="8229600" cy="4970694"/>
          </a:xfrm>
        </p:spPr>
        <p:txBody>
          <a:bodyPr/>
          <a:lstStyle/>
          <a:p>
            <a:r>
              <a:rPr sz="2800" dirty="0"/>
              <a:t>Form prefilled based on appeal</a:t>
            </a:r>
            <a:endParaRPr lang="en-US" sz="2800" dirty="0"/>
          </a:p>
          <a:p>
            <a:r>
              <a:rPr lang="en-US" sz="2800" dirty="0"/>
              <a:t>MSMD Assigns to </a:t>
            </a:r>
            <a:r>
              <a:rPr lang="en-US" sz="2800" dirty="0" err="1"/>
              <a:t>Bupa</a:t>
            </a:r>
            <a:endParaRPr lang="en-US" sz="2800" dirty="0"/>
          </a:p>
          <a:p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2507137"/>
            <a:ext cx="7077456" cy="361902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89638"/>
          </a:xfrm>
        </p:spPr>
        <p:txBody>
          <a:bodyPr>
            <a:normAutofit/>
          </a:bodyPr>
          <a:lstStyle/>
          <a:p>
            <a:r>
              <a:rPr sz="3200" dirty="0">
                <a:solidFill>
                  <a:srgbClr val="1279BE"/>
                </a:solidFill>
              </a:rPr>
              <a:t>Flow 2 – Step </a:t>
            </a:r>
            <a:r>
              <a:rPr lang="en-US" sz="3200" dirty="0">
                <a:solidFill>
                  <a:srgbClr val="1279BE"/>
                </a:solidFill>
              </a:rPr>
              <a:t>3</a:t>
            </a:r>
            <a:r>
              <a:rPr sz="3200" dirty="0">
                <a:solidFill>
                  <a:srgbClr val="1279BE"/>
                </a:solidFill>
              </a:rPr>
              <a:t>: </a:t>
            </a:r>
            <a:r>
              <a:rPr sz="3200" dirty="0" err="1">
                <a:solidFill>
                  <a:srgbClr val="1279BE"/>
                </a:solidFill>
              </a:rPr>
              <a:t>Bupa</a:t>
            </a:r>
            <a:r>
              <a:rPr lang="en-US" sz="3200" dirty="0">
                <a:solidFill>
                  <a:srgbClr val="1279BE"/>
                </a:solidFill>
              </a:rPr>
              <a:t> Team</a:t>
            </a:r>
            <a:r>
              <a:rPr sz="3200" dirty="0">
                <a:solidFill>
                  <a:srgbClr val="1279BE"/>
                </a:solidFill>
              </a:rPr>
              <a:t> Opens MRO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7776"/>
            <a:ext cx="8229600" cy="5228388"/>
          </a:xfrm>
        </p:spPr>
        <p:txBody>
          <a:bodyPr>
            <a:normAutofit/>
          </a:bodyPr>
          <a:lstStyle/>
          <a:p>
            <a:r>
              <a:rPr sz="2800" dirty="0"/>
              <a:t>MRO button visible to </a:t>
            </a:r>
            <a:r>
              <a:rPr sz="2800" dirty="0" err="1"/>
              <a:t>Bupa</a:t>
            </a:r>
            <a:endParaRPr lang="en-US" sz="2800" dirty="0"/>
          </a:p>
          <a:p>
            <a:pPr marL="0" indent="0">
              <a:buNone/>
            </a:pPr>
            <a:endParaRPr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1882245"/>
            <a:ext cx="7906882" cy="39782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3137"/>
          </a:xfrm>
        </p:spPr>
        <p:txBody>
          <a:bodyPr>
            <a:noAutofit/>
          </a:bodyPr>
          <a:lstStyle/>
          <a:p>
            <a:r>
              <a:rPr sz="3600" dirty="0">
                <a:solidFill>
                  <a:srgbClr val="1279BE"/>
                </a:solidFill>
              </a:rPr>
              <a:t>Flow 2 – Step </a:t>
            </a:r>
            <a:r>
              <a:rPr lang="en-US" sz="3600" dirty="0">
                <a:solidFill>
                  <a:srgbClr val="1279BE"/>
                </a:solidFill>
              </a:rPr>
              <a:t>4</a:t>
            </a:r>
            <a:r>
              <a:rPr sz="3600" dirty="0">
                <a:solidFill>
                  <a:srgbClr val="1279BE"/>
                </a:solidFill>
              </a:rPr>
              <a:t>: </a:t>
            </a:r>
            <a:r>
              <a:rPr sz="3600" dirty="0" err="1">
                <a:solidFill>
                  <a:srgbClr val="1279BE"/>
                </a:solidFill>
              </a:rPr>
              <a:t>Bupa</a:t>
            </a:r>
            <a:r>
              <a:rPr lang="en-US" sz="3600" dirty="0">
                <a:solidFill>
                  <a:srgbClr val="1279BE"/>
                </a:solidFill>
              </a:rPr>
              <a:t> Team</a:t>
            </a:r>
            <a:r>
              <a:rPr sz="3600" dirty="0">
                <a:solidFill>
                  <a:srgbClr val="1279BE"/>
                </a:solidFill>
              </a:rPr>
              <a:t> Updates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7776"/>
            <a:ext cx="8229600" cy="5228388"/>
          </a:xfrm>
        </p:spPr>
        <p:txBody>
          <a:bodyPr>
            <a:normAutofit/>
          </a:bodyPr>
          <a:lstStyle/>
          <a:p>
            <a:r>
              <a:rPr sz="2800" dirty="0" err="1"/>
              <a:t>Bupa</a:t>
            </a:r>
            <a:r>
              <a:rPr lang="en-US" sz="2800" dirty="0"/>
              <a:t> Team</a:t>
            </a:r>
            <a:r>
              <a:rPr sz="2800" dirty="0"/>
              <a:t> completes Part 2 section</a:t>
            </a:r>
            <a:endParaRPr lang="en-US" sz="2800" dirty="0"/>
          </a:p>
          <a:p>
            <a:endParaRPr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537" y="2041526"/>
            <a:ext cx="8235366" cy="419301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73013"/>
          </a:xfrm>
        </p:spPr>
        <p:txBody>
          <a:bodyPr>
            <a:normAutofit/>
          </a:bodyPr>
          <a:lstStyle/>
          <a:p>
            <a:r>
              <a:rPr sz="2800" dirty="0">
                <a:solidFill>
                  <a:srgbClr val="1279BE"/>
                </a:solidFill>
              </a:rPr>
              <a:t>Flow 2 – Step </a:t>
            </a:r>
            <a:r>
              <a:rPr lang="en-US" sz="2800" dirty="0">
                <a:solidFill>
                  <a:srgbClr val="1279BE"/>
                </a:solidFill>
              </a:rPr>
              <a:t>5</a:t>
            </a:r>
            <a:r>
              <a:rPr sz="2800" dirty="0">
                <a:solidFill>
                  <a:srgbClr val="1279BE"/>
                </a:solidFill>
              </a:rPr>
              <a:t>: MSMD Generates MRO</a:t>
            </a:r>
            <a:r>
              <a:rPr lang="en-US" sz="2800" dirty="0">
                <a:solidFill>
                  <a:srgbClr val="1279BE"/>
                </a:solidFill>
              </a:rPr>
              <a:t> Form Button</a:t>
            </a:r>
            <a:endParaRPr sz="2800" dirty="0">
              <a:solidFill>
                <a:srgbClr val="1279B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47652"/>
            <a:ext cx="8229600" cy="5178512"/>
          </a:xfrm>
        </p:spPr>
        <p:txBody>
          <a:bodyPr/>
          <a:lstStyle/>
          <a:p>
            <a:r>
              <a:rPr sz="2800" dirty="0"/>
              <a:t>MSMD </a:t>
            </a:r>
            <a:r>
              <a:rPr lang="en-US" sz="2800" dirty="0"/>
              <a:t>can see generate MRO Form button</a:t>
            </a:r>
          </a:p>
          <a:p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254" y="1546254"/>
            <a:ext cx="7214616" cy="366210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73013"/>
          </a:xfrm>
        </p:spPr>
        <p:txBody>
          <a:bodyPr>
            <a:normAutofit/>
          </a:bodyPr>
          <a:lstStyle/>
          <a:p>
            <a:r>
              <a:rPr sz="3600" dirty="0">
                <a:solidFill>
                  <a:srgbClr val="1279BE"/>
                </a:solidFill>
              </a:rPr>
              <a:t>Flow 2 – Step </a:t>
            </a:r>
            <a:r>
              <a:rPr lang="en-US" sz="3600" dirty="0">
                <a:solidFill>
                  <a:srgbClr val="1279BE"/>
                </a:solidFill>
              </a:rPr>
              <a:t>6</a:t>
            </a:r>
            <a:r>
              <a:rPr sz="3600" dirty="0">
                <a:solidFill>
                  <a:srgbClr val="1279BE"/>
                </a:solidFill>
              </a:rPr>
              <a:t>: MSMD Generates MRO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3534"/>
            <a:ext cx="8229600" cy="4862629"/>
          </a:xfrm>
        </p:spPr>
        <p:txBody>
          <a:bodyPr/>
          <a:lstStyle/>
          <a:p>
            <a:r>
              <a:rPr sz="2800" dirty="0"/>
              <a:t>MSMD enters recommendation &amp; generates PDF</a:t>
            </a:r>
            <a:endParaRPr lang="en-US" sz="2800" dirty="0"/>
          </a:p>
          <a:p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321" y="2018617"/>
            <a:ext cx="7278624" cy="371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695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solidFill>
                  <a:srgbClr val="1279BE"/>
                </a:solidFill>
              </a:rPr>
              <a:t>Flow 2 – Step 7: Attachment Generated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dirty="0"/>
              <a:t>Final MRO form is attached automatically</a:t>
            </a:r>
            <a:endParaRPr lang="en-US" sz="2800" dirty="0"/>
          </a:p>
          <a:p>
            <a:endParaRPr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596242"/>
            <a:ext cx="7114032" cy="371248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06017"/>
          </a:xfrm>
        </p:spPr>
        <p:txBody>
          <a:bodyPr>
            <a:normAutofit/>
          </a:bodyPr>
          <a:lstStyle/>
          <a:p>
            <a:r>
              <a:rPr sz="3600" dirty="0">
                <a:solidFill>
                  <a:srgbClr val="1279BE"/>
                </a:solidFill>
              </a:rPr>
              <a:t>Discussion Module – Step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31026"/>
            <a:ext cx="8229600" cy="5195138"/>
          </a:xfrm>
        </p:spPr>
        <p:txBody>
          <a:bodyPr>
            <a:normAutofit/>
          </a:bodyPr>
          <a:lstStyle/>
          <a:p>
            <a:r>
              <a:rPr sz="2800" dirty="0"/>
              <a:t>MSMD sets discussion date on assigned cases</a:t>
            </a:r>
            <a:endParaRPr lang="en-US" sz="2800" dirty="0"/>
          </a:p>
          <a:p>
            <a:r>
              <a:rPr lang="en-US" sz="2800" dirty="0"/>
              <a:t>Cases appear under Discussion List on matching date</a:t>
            </a:r>
          </a:p>
          <a:p>
            <a:r>
              <a:rPr lang="en-US" sz="2800" dirty="0"/>
              <a:t>MSMD selects multiple cases for bulk discussion</a:t>
            </a:r>
          </a:p>
          <a:p>
            <a:pPr marL="0" indent="0">
              <a:buNone/>
            </a:pPr>
            <a:br>
              <a:rPr lang="en-US" sz="2800" dirty="0"/>
            </a:br>
            <a:br>
              <a:rPr lang="en-US" sz="2800" dirty="0"/>
            </a:br>
            <a:endParaRPr lang="en-US" sz="2800" dirty="0"/>
          </a:p>
          <a:p>
            <a:pPr marL="0" indent="0">
              <a:buNone/>
            </a:pPr>
            <a:endParaRPr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2538007"/>
            <a:ext cx="7296912" cy="367128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1944"/>
          </a:xfrm>
        </p:spPr>
        <p:txBody>
          <a:bodyPr>
            <a:normAutofit fontScale="90000"/>
          </a:bodyPr>
          <a:lstStyle/>
          <a:p>
            <a:r>
              <a:rPr sz="3600" dirty="0">
                <a:solidFill>
                  <a:srgbClr val="1279BE"/>
                </a:solidFill>
              </a:rPr>
              <a:t>Discussion Module – Step </a:t>
            </a:r>
            <a:r>
              <a:rPr lang="en-US" sz="3600" dirty="0">
                <a:solidFill>
                  <a:srgbClr val="1279BE"/>
                </a:solidFill>
              </a:rPr>
              <a:t>2</a:t>
            </a:r>
            <a:endParaRPr sz="3600" dirty="0">
              <a:solidFill>
                <a:srgbClr val="1279B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22960"/>
            <a:ext cx="8229600" cy="5303203"/>
          </a:xfrm>
        </p:spPr>
        <p:txBody>
          <a:bodyPr/>
          <a:lstStyle/>
          <a:p>
            <a:r>
              <a:rPr sz="2800" dirty="0"/>
              <a:t>Pop-up with Next/Previous navigation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12" y="1641057"/>
            <a:ext cx="8051472" cy="406147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56635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1279BE"/>
                </a:solidFill>
              </a:rPr>
              <a:t>Badge History/Appeal Response History</a:t>
            </a:r>
            <a:endParaRPr sz="3600" dirty="0">
              <a:solidFill>
                <a:srgbClr val="1279B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can see Badge Number History &amp; Appeal Response History</a:t>
            </a:r>
          </a:p>
          <a:p>
            <a:endParaRPr lang="en-US" dirty="0"/>
          </a:p>
          <a:p>
            <a:endParaRPr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2807228"/>
            <a:ext cx="7269480" cy="376190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56635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1279BE"/>
                </a:solidFill>
              </a:rPr>
              <a:t>Badge History</a:t>
            </a:r>
            <a:endParaRPr sz="3600" dirty="0">
              <a:solidFill>
                <a:srgbClr val="1279B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can see Badge Number History</a:t>
            </a:r>
          </a:p>
          <a:p>
            <a:endParaRPr lang="en-US" dirty="0"/>
          </a:p>
          <a:p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626254"/>
            <a:ext cx="7242048" cy="371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9644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56635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1279BE"/>
                </a:solidFill>
              </a:rPr>
              <a:t>Appeal Response History</a:t>
            </a:r>
            <a:endParaRPr sz="3600" dirty="0">
              <a:solidFill>
                <a:srgbClr val="1279B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8844"/>
            <a:ext cx="8229600" cy="4987319"/>
          </a:xfrm>
        </p:spPr>
        <p:txBody>
          <a:bodyPr/>
          <a:lstStyle/>
          <a:p>
            <a:r>
              <a:rPr lang="en-US" dirty="0"/>
              <a:t>User can see appeal Response History for each case</a:t>
            </a:r>
          </a:p>
          <a:p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" y="2101850"/>
            <a:ext cx="7287768" cy="369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9840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279BE"/>
                </a:solidFill>
              </a:rPr>
              <a:t>Notification Icon</a:t>
            </a:r>
            <a:endParaRPr dirty="0">
              <a:solidFill>
                <a:srgbClr val="1279BE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36051"/>
            <a:ext cx="8229600" cy="385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1390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279BE"/>
                </a:solidFill>
              </a:rPr>
              <a:t>Email Notification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069936"/>
            <a:ext cx="8229600" cy="358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1607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5221387"/>
          </a:xfrm>
        </p:spPr>
        <p:txBody>
          <a:bodyPr>
            <a:normAutofit/>
          </a:bodyPr>
          <a:lstStyle/>
          <a:p>
            <a:r>
              <a:rPr lang="en-US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75713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a951089b-8589-4e3c-82c9-d7f065b83582}" enabled="1" method="Standard" siteId="{dd9a2cf7-de66-4049-8a86-f6d91167667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416</Words>
  <Application>Microsoft Office PowerPoint</Application>
  <PresentationFormat>On-screen Show (4:3)</PresentationFormat>
  <Paragraphs>77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   Saudi Aramco MS&amp;AMD (Medical Services &amp; Affiliation Management Department ) and BUPA Arabia Automated Communication  System  </vt:lpstr>
      <vt:lpstr>User Roles</vt:lpstr>
      <vt:lpstr>Appeal Workflow</vt:lpstr>
      <vt:lpstr>Landing Page</vt:lpstr>
      <vt:lpstr>Landing Page</vt:lpstr>
      <vt:lpstr>Flow 1 – Step 1: Appeal Created</vt:lpstr>
      <vt:lpstr>Flow 1 – Step 2: Appeal Edit/Cancel</vt:lpstr>
      <vt:lpstr>Flow 1 – Step 3: MSMD Login View</vt:lpstr>
      <vt:lpstr>Flow 1 – Step 4: MSMD Edit Mode</vt:lpstr>
      <vt:lpstr>Flow 1 – Step 5: Bupa Team View</vt:lpstr>
      <vt:lpstr>Flow 1 – Step 6: Bupa Response</vt:lpstr>
      <vt:lpstr>Flow 2 – MRO Form</vt:lpstr>
      <vt:lpstr>Flow 2 – Step 1: Select MRO Category</vt:lpstr>
      <vt:lpstr>Flow 2 – Step 2: MRO Form Part 1</vt:lpstr>
      <vt:lpstr>Flow 2 – Step 3: Bupa Team Opens MRO Case</vt:lpstr>
      <vt:lpstr>Flow 2 – Step 4: Bupa Team Updates Part 2</vt:lpstr>
      <vt:lpstr>Flow 2 – Step 5: MSMD Generates MRO Form Button</vt:lpstr>
      <vt:lpstr>Flow 2 – Step 6: MSMD Generates MRO</vt:lpstr>
      <vt:lpstr>Flow 2 – Step 7: Attachment Generated</vt:lpstr>
      <vt:lpstr>Discussion Module – Step 1</vt:lpstr>
      <vt:lpstr>Discussion Module – Step 2</vt:lpstr>
      <vt:lpstr>Badge History/Appeal Response History</vt:lpstr>
      <vt:lpstr>Badge History</vt:lpstr>
      <vt:lpstr>Appeal Response History</vt:lpstr>
      <vt:lpstr>Notification Icon</vt:lpstr>
      <vt:lpstr>Email Notification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Saudi Aramco MSMD and BUPA Arabia Automated Communication  System  </dc:title>
  <dc:subject/>
  <dc:creator/>
  <cp:keywords/>
  <dc:description>generated using python-pptx</dc:description>
  <cp:lastModifiedBy>Salman Yunus Dhukka</cp:lastModifiedBy>
  <cp:revision>29</cp:revision>
  <dcterms:created xsi:type="dcterms:W3CDTF">2013-01-27T09:14:16Z</dcterms:created>
  <dcterms:modified xsi:type="dcterms:W3CDTF">2026-06-03T08:22:59Z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Theme:13</vt:lpwstr>
  </property>
  <property fmtid="{D5CDD505-2E9C-101B-9397-08002B2CF9AE}" pid="3" name="ClassificationContentMarkingFooterText">
    <vt:lpwstr>Confidential</vt:lpwstr>
  </property>
  <property fmtid="{D5CDD505-2E9C-101B-9397-08002B2CF9AE}" pid="4" name="ClassificationWatermarkLocations">
    <vt:lpwstr>Office Theme:14</vt:lpwstr>
  </property>
  <property fmtid="{D5CDD505-2E9C-101B-9397-08002B2CF9AE}" pid="5" name="ClassificationWatermarkText">
    <vt:lpwstr>Confidential</vt:lpwstr>
  </property>
</Properties>
</file>